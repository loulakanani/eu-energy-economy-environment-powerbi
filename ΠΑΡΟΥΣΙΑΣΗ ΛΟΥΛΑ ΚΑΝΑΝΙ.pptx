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1" r:id="rId3"/>
    <p:sldId id="263" r:id="rId4"/>
    <p:sldId id="257" r:id="rId5"/>
    <p:sldId id="258" r:id="rId6"/>
    <p:sldId id="259" r:id="rId7"/>
    <p:sldId id="260" r:id="rId8"/>
    <p:sldId id="262" r:id="rId9"/>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4660"/>
  </p:normalViewPr>
  <p:slideViewPr>
    <p:cSldViewPr snapToGrid="0">
      <p:cViewPr varScale="1">
        <p:scale>
          <a:sx n="105" d="100"/>
          <a:sy n="105" d="100"/>
        </p:scale>
        <p:origin x="8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dirty="0"/>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8AE5BA-3ED3-4DA2-B8C8-E84F02D6B89E}" type="datetimeFigureOut">
              <a:rPr lang="el-GR" smtClean="0"/>
              <a:t>9/7/2026</a:t>
            </a:fld>
            <a:endParaRPr lang="el-GR" dirty="0"/>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dirty="0"/>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dirty="0"/>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C9B944-B783-47F2-931E-374C5B72678A}" type="slidenum">
              <a:rPr lang="el-GR" smtClean="0"/>
              <a:t>‹#›</a:t>
            </a:fld>
            <a:endParaRPr lang="el-GR" dirty="0"/>
          </a:p>
        </p:txBody>
      </p:sp>
    </p:spTree>
    <p:extLst>
      <p:ext uri="{BB962C8B-B14F-4D97-AF65-F5344CB8AC3E}">
        <p14:creationId xmlns:p14="http://schemas.microsoft.com/office/powerpoint/2010/main" val="402700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txBody>
          <a:bodyPr/>
          <a:lstStyle/>
          <a:p>
            <a:endParaRPr lang="el-GR" dirty="0"/>
          </a:p>
        </p:txBody>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fld id="{7DC9B944-B783-47F2-931E-374C5B72678A}" type="slidenum">
              <a:rPr lang="el-GR" smtClean="0"/>
              <a:t>1</a:t>
            </a:fld>
            <a:endParaRPr lang="el-GR" dirty="0"/>
          </a:p>
        </p:txBody>
      </p:sp>
    </p:spTree>
    <p:extLst>
      <p:ext uri="{BB962C8B-B14F-4D97-AF65-F5344CB8AC3E}">
        <p14:creationId xmlns:p14="http://schemas.microsoft.com/office/powerpoint/2010/main" val="1755491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9E4C03D-01B6-C17C-007F-28D9E73FD2F6}"/>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BCB27481-B45F-68EA-8AA4-5E4B784129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DFACD6EB-CCCB-4DC5-ABE0-888DD0A8CCAF}"/>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5" name="Θέση υποσέλιδου 4">
            <a:extLst>
              <a:ext uri="{FF2B5EF4-FFF2-40B4-BE49-F238E27FC236}">
                <a16:creationId xmlns:a16="http://schemas.microsoft.com/office/drawing/2014/main" id="{BCABACB2-6A87-95B7-0CF8-9BFC82A0BB33}"/>
              </a:ext>
            </a:extLst>
          </p:cNvPr>
          <p:cNvSpPr>
            <a:spLocks noGrp="1"/>
          </p:cNvSpPr>
          <p:nvPr>
            <p:ph type="ftr" sz="quarter" idx="11"/>
          </p:nvPr>
        </p:nvSpPr>
        <p:spPr/>
        <p:txBody>
          <a:bodyPr/>
          <a:lstStyle/>
          <a:p>
            <a:endParaRPr lang="el-GR" dirty="0"/>
          </a:p>
        </p:txBody>
      </p:sp>
      <p:sp>
        <p:nvSpPr>
          <p:cNvPr id="6" name="Θέση αριθμού διαφάνειας 5">
            <a:extLst>
              <a:ext uri="{FF2B5EF4-FFF2-40B4-BE49-F238E27FC236}">
                <a16:creationId xmlns:a16="http://schemas.microsoft.com/office/drawing/2014/main" id="{A67E32D4-228A-95BB-8DE1-DA79113DCDCF}"/>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683868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5E02495-CEBC-C240-26DA-E9BB9D426635}"/>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B15BCA31-0C0E-B97D-D756-C9D961E1F5A2}"/>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C5F91285-8DAB-BCCD-9D59-74EA3415EE04}"/>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5" name="Θέση υποσέλιδου 4">
            <a:extLst>
              <a:ext uri="{FF2B5EF4-FFF2-40B4-BE49-F238E27FC236}">
                <a16:creationId xmlns:a16="http://schemas.microsoft.com/office/drawing/2014/main" id="{D09E918E-BEA3-591F-758E-11CB5B12787D}"/>
              </a:ext>
            </a:extLst>
          </p:cNvPr>
          <p:cNvSpPr>
            <a:spLocks noGrp="1"/>
          </p:cNvSpPr>
          <p:nvPr>
            <p:ph type="ftr" sz="quarter" idx="11"/>
          </p:nvPr>
        </p:nvSpPr>
        <p:spPr/>
        <p:txBody>
          <a:bodyPr/>
          <a:lstStyle/>
          <a:p>
            <a:endParaRPr lang="el-GR" dirty="0"/>
          </a:p>
        </p:txBody>
      </p:sp>
      <p:sp>
        <p:nvSpPr>
          <p:cNvPr id="6" name="Θέση αριθμού διαφάνειας 5">
            <a:extLst>
              <a:ext uri="{FF2B5EF4-FFF2-40B4-BE49-F238E27FC236}">
                <a16:creationId xmlns:a16="http://schemas.microsoft.com/office/drawing/2014/main" id="{E7A94BF4-05EC-92A7-B733-CC4C083EB450}"/>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1035955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BB4DD05-8035-3997-514F-7B6E2E955E48}"/>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E64A54A3-5524-F5A3-A4B1-FE674F1B52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AC2EC59C-5240-115C-A01B-B9F4FF387DCC}"/>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5" name="Θέση υποσέλιδου 4">
            <a:extLst>
              <a:ext uri="{FF2B5EF4-FFF2-40B4-BE49-F238E27FC236}">
                <a16:creationId xmlns:a16="http://schemas.microsoft.com/office/drawing/2014/main" id="{E71BCA52-839B-D455-203E-0570112E41D0}"/>
              </a:ext>
            </a:extLst>
          </p:cNvPr>
          <p:cNvSpPr>
            <a:spLocks noGrp="1"/>
          </p:cNvSpPr>
          <p:nvPr>
            <p:ph type="ftr" sz="quarter" idx="11"/>
          </p:nvPr>
        </p:nvSpPr>
        <p:spPr/>
        <p:txBody>
          <a:bodyPr/>
          <a:lstStyle/>
          <a:p>
            <a:endParaRPr lang="el-GR" dirty="0"/>
          </a:p>
        </p:txBody>
      </p:sp>
      <p:sp>
        <p:nvSpPr>
          <p:cNvPr id="6" name="Θέση αριθμού διαφάνειας 5">
            <a:extLst>
              <a:ext uri="{FF2B5EF4-FFF2-40B4-BE49-F238E27FC236}">
                <a16:creationId xmlns:a16="http://schemas.microsoft.com/office/drawing/2014/main" id="{4CE8E51D-0A7E-223C-62E3-302D2FBF6429}"/>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835507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F43C29F-CF73-FB4D-D2C0-38D19D11017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AECBA9CE-BE5E-AF7B-6518-DAC563A99BC5}"/>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id="{24A55F63-0182-2108-CAF2-EF608BFBA461}"/>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id="{4C2741DE-BE0F-82EF-46D8-0B73AD965239}"/>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6" name="Θέση υποσέλιδου 5">
            <a:extLst>
              <a:ext uri="{FF2B5EF4-FFF2-40B4-BE49-F238E27FC236}">
                <a16:creationId xmlns:a16="http://schemas.microsoft.com/office/drawing/2014/main" id="{05B29B9C-1A9D-310E-85FD-5AA669C0E8A6}"/>
              </a:ext>
            </a:extLst>
          </p:cNvPr>
          <p:cNvSpPr>
            <a:spLocks noGrp="1"/>
          </p:cNvSpPr>
          <p:nvPr>
            <p:ph type="ftr" sz="quarter" idx="11"/>
          </p:nvPr>
        </p:nvSpPr>
        <p:spPr/>
        <p:txBody>
          <a:bodyPr/>
          <a:lstStyle/>
          <a:p>
            <a:endParaRPr lang="el-GR" dirty="0"/>
          </a:p>
        </p:txBody>
      </p:sp>
      <p:sp>
        <p:nvSpPr>
          <p:cNvPr id="7" name="Θέση αριθμού διαφάνειας 6">
            <a:extLst>
              <a:ext uri="{FF2B5EF4-FFF2-40B4-BE49-F238E27FC236}">
                <a16:creationId xmlns:a16="http://schemas.microsoft.com/office/drawing/2014/main" id="{93F38AF5-AF6B-C94D-4DE7-B661DB9DB8BD}"/>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832789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40B57EC-FE70-F438-1EA8-F322044F6F94}"/>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7ECBE85C-B4EC-0AC2-FDC6-A52B617E5E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A0D54774-3EEA-11F5-806D-9AC736BD2E73}"/>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id="{1E8F70BF-4BCB-D2ED-2226-7E864C99C6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A7CA48AC-C88E-C07F-BBF2-0EF2155CCC27}"/>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id="{57248724-1004-759A-C927-C6499C2AE45C}"/>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8" name="Θέση υποσέλιδου 7">
            <a:extLst>
              <a:ext uri="{FF2B5EF4-FFF2-40B4-BE49-F238E27FC236}">
                <a16:creationId xmlns:a16="http://schemas.microsoft.com/office/drawing/2014/main" id="{23628180-2179-C520-0BA2-D958ED677F15}"/>
              </a:ext>
            </a:extLst>
          </p:cNvPr>
          <p:cNvSpPr>
            <a:spLocks noGrp="1"/>
          </p:cNvSpPr>
          <p:nvPr>
            <p:ph type="ftr" sz="quarter" idx="11"/>
          </p:nvPr>
        </p:nvSpPr>
        <p:spPr/>
        <p:txBody>
          <a:bodyPr/>
          <a:lstStyle/>
          <a:p>
            <a:endParaRPr lang="el-GR" dirty="0"/>
          </a:p>
        </p:txBody>
      </p:sp>
      <p:sp>
        <p:nvSpPr>
          <p:cNvPr id="9" name="Θέση αριθμού διαφάνειας 8">
            <a:extLst>
              <a:ext uri="{FF2B5EF4-FFF2-40B4-BE49-F238E27FC236}">
                <a16:creationId xmlns:a16="http://schemas.microsoft.com/office/drawing/2014/main" id="{5B0ACE78-5EEE-7FE1-797E-61C562C31ACB}"/>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2461605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1A0E035-C1EA-CAF1-7D0B-022449310103}"/>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DF85A5FE-695F-8F23-DEF6-0167915A3B63}"/>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4" name="Θέση υποσέλιδου 3">
            <a:extLst>
              <a:ext uri="{FF2B5EF4-FFF2-40B4-BE49-F238E27FC236}">
                <a16:creationId xmlns:a16="http://schemas.microsoft.com/office/drawing/2014/main" id="{69C32105-45DA-237E-057C-5D059A5D4A16}"/>
              </a:ext>
            </a:extLst>
          </p:cNvPr>
          <p:cNvSpPr>
            <a:spLocks noGrp="1"/>
          </p:cNvSpPr>
          <p:nvPr>
            <p:ph type="ftr" sz="quarter" idx="11"/>
          </p:nvPr>
        </p:nvSpPr>
        <p:spPr/>
        <p:txBody>
          <a:bodyPr/>
          <a:lstStyle/>
          <a:p>
            <a:endParaRPr lang="el-GR" dirty="0"/>
          </a:p>
        </p:txBody>
      </p:sp>
      <p:sp>
        <p:nvSpPr>
          <p:cNvPr id="5" name="Θέση αριθμού διαφάνειας 4">
            <a:extLst>
              <a:ext uri="{FF2B5EF4-FFF2-40B4-BE49-F238E27FC236}">
                <a16:creationId xmlns:a16="http://schemas.microsoft.com/office/drawing/2014/main" id="{7C143805-0D1C-3B00-66D7-6F609AA20C6F}"/>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3604720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482939F-7043-4AF7-4E3E-39BE1796E105}"/>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3" name="Θέση υποσέλιδου 2">
            <a:extLst>
              <a:ext uri="{FF2B5EF4-FFF2-40B4-BE49-F238E27FC236}">
                <a16:creationId xmlns:a16="http://schemas.microsoft.com/office/drawing/2014/main" id="{2B274E2A-9B3C-9667-AE7D-F75A88FFE26E}"/>
              </a:ext>
            </a:extLst>
          </p:cNvPr>
          <p:cNvSpPr>
            <a:spLocks noGrp="1"/>
          </p:cNvSpPr>
          <p:nvPr>
            <p:ph type="ftr" sz="quarter" idx="1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60799EC5-0AE8-7F55-2A15-E045D7F6C235}"/>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66153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5250C78-E575-B714-AC4E-B982A961C55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143EE064-BD0D-3105-3C73-8F17E30FD4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id="{9649A4A6-5864-AF09-49F7-92A4B21A39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394994FD-571D-7284-6478-E580944AA7EA}"/>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6" name="Θέση υποσέλιδου 5">
            <a:extLst>
              <a:ext uri="{FF2B5EF4-FFF2-40B4-BE49-F238E27FC236}">
                <a16:creationId xmlns:a16="http://schemas.microsoft.com/office/drawing/2014/main" id="{4351463C-C4DC-D543-01AC-8EBAE8A86339}"/>
              </a:ext>
            </a:extLst>
          </p:cNvPr>
          <p:cNvSpPr>
            <a:spLocks noGrp="1"/>
          </p:cNvSpPr>
          <p:nvPr>
            <p:ph type="ftr" sz="quarter" idx="11"/>
          </p:nvPr>
        </p:nvSpPr>
        <p:spPr/>
        <p:txBody>
          <a:bodyPr/>
          <a:lstStyle/>
          <a:p>
            <a:endParaRPr lang="el-GR" dirty="0"/>
          </a:p>
        </p:txBody>
      </p:sp>
      <p:sp>
        <p:nvSpPr>
          <p:cNvPr id="7" name="Θέση αριθμού διαφάνειας 6">
            <a:extLst>
              <a:ext uri="{FF2B5EF4-FFF2-40B4-BE49-F238E27FC236}">
                <a16:creationId xmlns:a16="http://schemas.microsoft.com/office/drawing/2014/main" id="{EE16ECC8-413A-3788-9104-F7EA67553A47}"/>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3003387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27D3979-5741-2A4B-81C1-932F1B5A6A5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5A498C7E-B85C-5972-C2F0-92A55AB260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dirty="0"/>
          </a:p>
        </p:txBody>
      </p:sp>
      <p:sp>
        <p:nvSpPr>
          <p:cNvPr id="4" name="Θέση κειμένου 3">
            <a:extLst>
              <a:ext uri="{FF2B5EF4-FFF2-40B4-BE49-F238E27FC236}">
                <a16:creationId xmlns:a16="http://schemas.microsoft.com/office/drawing/2014/main" id="{621BF21F-49C1-106F-0327-5A67B0E0C3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3D07D833-E190-2E46-B8C7-9C5BD243BE49}"/>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6" name="Θέση υποσέλιδου 5">
            <a:extLst>
              <a:ext uri="{FF2B5EF4-FFF2-40B4-BE49-F238E27FC236}">
                <a16:creationId xmlns:a16="http://schemas.microsoft.com/office/drawing/2014/main" id="{CBB8C05D-EF60-386C-F574-371AE95B129A}"/>
              </a:ext>
            </a:extLst>
          </p:cNvPr>
          <p:cNvSpPr>
            <a:spLocks noGrp="1"/>
          </p:cNvSpPr>
          <p:nvPr>
            <p:ph type="ftr" sz="quarter" idx="11"/>
          </p:nvPr>
        </p:nvSpPr>
        <p:spPr/>
        <p:txBody>
          <a:bodyPr/>
          <a:lstStyle/>
          <a:p>
            <a:endParaRPr lang="el-GR" dirty="0"/>
          </a:p>
        </p:txBody>
      </p:sp>
      <p:sp>
        <p:nvSpPr>
          <p:cNvPr id="7" name="Θέση αριθμού διαφάνειας 6">
            <a:extLst>
              <a:ext uri="{FF2B5EF4-FFF2-40B4-BE49-F238E27FC236}">
                <a16:creationId xmlns:a16="http://schemas.microsoft.com/office/drawing/2014/main" id="{9590E392-2395-1B10-B86F-07D6CF6C08B8}"/>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4147532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D978A6A-86E4-E568-E9FD-81B26330EEF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C700148B-6E8D-58FD-F1BF-9FBA03C6526D}"/>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F2130C75-444D-6B8B-C523-85F664D53C6B}"/>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5" name="Θέση υποσέλιδου 4">
            <a:extLst>
              <a:ext uri="{FF2B5EF4-FFF2-40B4-BE49-F238E27FC236}">
                <a16:creationId xmlns:a16="http://schemas.microsoft.com/office/drawing/2014/main" id="{2A0CCECF-5113-2B88-4DBA-CA8600B6D885}"/>
              </a:ext>
            </a:extLst>
          </p:cNvPr>
          <p:cNvSpPr>
            <a:spLocks noGrp="1"/>
          </p:cNvSpPr>
          <p:nvPr>
            <p:ph type="ftr" sz="quarter" idx="11"/>
          </p:nvPr>
        </p:nvSpPr>
        <p:spPr/>
        <p:txBody>
          <a:bodyPr/>
          <a:lstStyle/>
          <a:p>
            <a:endParaRPr lang="el-GR" dirty="0"/>
          </a:p>
        </p:txBody>
      </p:sp>
      <p:sp>
        <p:nvSpPr>
          <p:cNvPr id="6" name="Θέση αριθμού διαφάνειας 5">
            <a:extLst>
              <a:ext uri="{FF2B5EF4-FFF2-40B4-BE49-F238E27FC236}">
                <a16:creationId xmlns:a16="http://schemas.microsoft.com/office/drawing/2014/main" id="{CF13FC26-C77D-E8E2-E1D5-6DA8CE98C011}"/>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3112363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19E26780-7AB3-4A72-B557-E228C7D46E83}"/>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31B320D5-821F-3590-1355-C2545A11D6F9}"/>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9D976F62-D552-6FBB-9201-DB07AF92C7F8}"/>
              </a:ext>
            </a:extLst>
          </p:cNvPr>
          <p:cNvSpPr>
            <a:spLocks noGrp="1"/>
          </p:cNvSpPr>
          <p:nvPr>
            <p:ph type="dt" sz="half" idx="10"/>
          </p:nvPr>
        </p:nvSpPr>
        <p:spPr/>
        <p:txBody>
          <a:bodyPr/>
          <a:lstStyle/>
          <a:p>
            <a:fld id="{541EDA1C-170A-40DC-B438-1EB4764CEC67}" type="datetimeFigureOut">
              <a:rPr lang="el-GR" smtClean="0"/>
              <a:t>9/7/2026</a:t>
            </a:fld>
            <a:endParaRPr lang="el-GR" dirty="0"/>
          </a:p>
        </p:txBody>
      </p:sp>
      <p:sp>
        <p:nvSpPr>
          <p:cNvPr id="5" name="Θέση υποσέλιδου 4">
            <a:extLst>
              <a:ext uri="{FF2B5EF4-FFF2-40B4-BE49-F238E27FC236}">
                <a16:creationId xmlns:a16="http://schemas.microsoft.com/office/drawing/2014/main" id="{72231D4E-4F0E-71B4-9C05-769A6F6C3844}"/>
              </a:ext>
            </a:extLst>
          </p:cNvPr>
          <p:cNvSpPr>
            <a:spLocks noGrp="1"/>
          </p:cNvSpPr>
          <p:nvPr>
            <p:ph type="ftr" sz="quarter" idx="11"/>
          </p:nvPr>
        </p:nvSpPr>
        <p:spPr/>
        <p:txBody>
          <a:bodyPr/>
          <a:lstStyle/>
          <a:p>
            <a:endParaRPr lang="el-GR" dirty="0"/>
          </a:p>
        </p:txBody>
      </p:sp>
      <p:sp>
        <p:nvSpPr>
          <p:cNvPr id="6" name="Θέση αριθμού διαφάνειας 5">
            <a:extLst>
              <a:ext uri="{FF2B5EF4-FFF2-40B4-BE49-F238E27FC236}">
                <a16:creationId xmlns:a16="http://schemas.microsoft.com/office/drawing/2014/main" id="{C5A1094B-5E63-4BFD-B2E8-9AE02617F796}"/>
              </a:ext>
            </a:extLst>
          </p:cNvPr>
          <p:cNvSpPr>
            <a:spLocks noGrp="1"/>
          </p:cNvSpPr>
          <p:nvPr>
            <p:ph type="sldNum" sz="quarter" idx="12"/>
          </p:nvPr>
        </p:nvSpPr>
        <p:spPr/>
        <p:txBody>
          <a:bodyPr/>
          <a:lstStyle/>
          <a:p>
            <a:fld id="{E3B14E1D-BA14-4338-84E1-81E2B7B2C372}" type="slidenum">
              <a:rPr lang="el-GR" smtClean="0"/>
              <a:t>‹#›</a:t>
            </a:fld>
            <a:endParaRPr lang="el-GR" dirty="0"/>
          </a:p>
        </p:txBody>
      </p:sp>
    </p:spTree>
    <p:extLst>
      <p:ext uri="{BB962C8B-B14F-4D97-AF65-F5344CB8AC3E}">
        <p14:creationId xmlns:p14="http://schemas.microsoft.com/office/powerpoint/2010/main" val="3626835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BBE5B91E-EDDE-996B-1640-48AB4C494D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40EED1A6-D280-42B9-79EB-9192EA1300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EBE40B9E-59A2-FDA4-CD23-37915AF0C7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1EDA1C-170A-40DC-B438-1EB4764CEC67}" type="datetimeFigureOut">
              <a:rPr lang="el-GR" smtClean="0"/>
              <a:t>9/7/2026</a:t>
            </a:fld>
            <a:endParaRPr lang="el-GR" dirty="0"/>
          </a:p>
        </p:txBody>
      </p:sp>
      <p:sp>
        <p:nvSpPr>
          <p:cNvPr id="5" name="Θέση υποσέλιδου 4">
            <a:extLst>
              <a:ext uri="{FF2B5EF4-FFF2-40B4-BE49-F238E27FC236}">
                <a16:creationId xmlns:a16="http://schemas.microsoft.com/office/drawing/2014/main" id="{40813E87-3102-5F67-1964-361F9588AF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dirty="0"/>
          </a:p>
        </p:txBody>
      </p:sp>
      <p:sp>
        <p:nvSpPr>
          <p:cNvPr id="6" name="Θέση αριθμού διαφάνειας 5">
            <a:extLst>
              <a:ext uri="{FF2B5EF4-FFF2-40B4-BE49-F238E27FC236}">
                <a16:creationId xmlns:a16="http://schemas.microsoft.com/office/drawing/2014/main" id="{767558B8-9CE8-A70B-E2F0-C676D60E69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B14E1D-BA14-4338-84E1-81E2B7B2C372}" type="slidenum">
              <a:rPr lang="el-GR" smtClean="0"/>
              <a:t>‹#›</a:t>
            </a:fld>
            <a:endParaRPr lang="el-GR" dirty="0"/>
          </a:p>
        </p:txBody>
      </p:sp>
    </p:spTree>
    <p:extLst>
      <p:ext uri="{BB962C8B-B14F-4D97-AF65-F5344CB8AC3E}">
        <p14:creationId xmlns:p14="http://schemas.microsoft.com/office/powerpoint/2010/main" val="2922393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Εικόνα 6">
            <a:extLst>
              <a:ext uri="{FF2B5EF4-FFF2-40B4-BE49-F238E27FC236}">
                <a16:creationId xmlns:a16="http://schemas.microsoft.com/office/drawing/2014/main" id="{E1B79154-4AE1-0D26-E95B-50073E77FE63}"/>
              </a:ext>
            </a:extLst>
          </p:cNvPr>
          <p:cNvPicPr>
            <a:picLocks noChangeAspect="1"/>
          </p:cNvPicPr>
          <p:nvPr/>
        </p:nvPicPr>
        <p:blipFill>
          <a:blip r:embed="rId3">
            <a:extLst>
              <a:ext uri="{28A0092B-C50C-407E-A947-70E740481C1C}">
                <a14:useLocalDpi xmlns:a14="http://schemas.microsoft.com/office/drawing/2010/main" val="0"/>
              </a:ext>
            </a:extLst>
          </a:blip>
          <a:srcRect l="11569" r="19694" b="-1"/>
          <a:stretch>
            <a:fillRect/>
          </a:stretch>
        </p:blipFill>
        <p:spPr>
          <a:xfrm>
            <a:off x="2406535" y="10"/>
            <a:ext cx="9669642" cy="6857990"/>
          </a:xfrm>
          <a:prstGeom prst="rect">
            <a:avLst/>
          </a:prstGeom>
        </p:spPr>
      </p:pic>
      <p:sp>
        <p:nvSpPr>
          <p:cNvPr id="14" name="Rectangle 1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Τίτλος 3">
            <a:extLst>
              <a:ext uri="{FF2B5EF4-FFF2-40B4-BE49-F238E27FC236}">
                <a16:creationId xmlns:a16="http://schemas.microsoft.com/office/drawing/2014/main" id="{1B7BC55D-2C5D-1228-6205-11B3598D08ED}"/>
              </a:ext>
            </a:extLst>
          </p:cNvPr>
          <p:cNvSpPr>
            <a:spLocks noGrp="1"/>
          </p:cNvSpPr>
          <p:nvPr>
            <p:ph type="title"/>
          </p:nvPr>
        </p:nvSpPr>
        <p:spPr>
          <a:xfrm>
            <a:off x="746760" y="192023"/>
            <a:ext cx="11122152" cy="1341493"/>
          </a:xfrm>
        </p:spPr>
        <p:txBody>
          <a:bodyPr>
            <a:normAutofit/>
          </a:bodyPr>
          <a:lstStyle/>
          <a:p>
            <a:r>
              <a:rPr lang="el-GR" sz="2800" b="1" dirty="0"/>
              <a:t>Αλληλεπιδράσεις Οικονομικής Δραστηριότητας, Ενεργειακού Μείγματος και Περιβαλλοντικών Επιπτώσεων στην Ε.Ε. (2018-2024)</a:t>
            </a:r>
          </a:p>
        </p:txBody>
      </p:sp>
      <p:sp>
        <p:nvSpPr>
          <p:cNvPr id="5" name="Θέση περιεχομένου 4">
            <a:extLst>
              <a:ext uri="{FF2B5EF4-FFF2-40B4-BE49-F238E27FC236}">
                <a16:creationId xmlns:a16="http://schemas.microsoft.com/office/drawing/2014/main" id="{651B6F21-79E0-E7EA-19DC-84E6FBD2E32E}"/>
              </a:ext>
            </a:extLst>
          </p:cNvPr>
          <p:cNvSpPr>
            <a:spLocks noGrp="1"/>
          </p:cNvSpPr>
          <p:nvPr>
            <p:ph idx="1"/>
          </p:nvPr>
        </p:nvSpPr>
        <p:spPr>
          <a:xfrm>
            <a:off x="746760" y="1839841"/>
            <a:ext cx="3514344" cy="3742762"/>
          </a:xfrm>
        </p:spPr>
        <p:txBody>
          <a:bodyPr>
            <a:normAutofit/>
          </a:bodyPr>
          <a:lstStyle/>
          <a:p>
            <a:pPr marL="0" indent="457200" algn="just">
              <a:buNone/>
            </a:pPr>
            <a:r>
              <a:rPr lang="el-GR" sz="2000" dirty="0">
                <a:latin typeface="Amasis MT Pro" panose="02040504050005020304" pitchFamily="18" charset="0"/>
              </a:rPr>
              <a:t>Εγώ η Λούλα Κανάνι βεβαιώνω ότι η παρούσα εργασία βασίζεται σε δεδομένα για τα οποία έχω άδεια μεταβίβασης και επεξεργασίας. Βεβαιώνω επίσης ότι τα δεδομένα αυτά τηρούν όλους τους ισχύοντες νόμους και διατάξεις περί προστασίας πνευματικής ιδιοκτησίας και προσωπικών δεδομένων.</a:t>
            </a:r>
          </a:p>
        </p:txBody>
      </p:sp>
    </p:spTree>
    <p:extLst>
      <p:ext uri="{BB962C8B-B14F-4D97-AF65-F5344CB8AC3E}">
        <p14:creationId xmlns:p14="http://schemas.microsoft.com/office/powerpoint/2010/main" val="3895033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67535118-E25E-ABF6-5623-806D5286EE7E}"/>
              </a:ext>
            </a:extLst>
          </p:cNvPr>
          <p:cNvSpPr>
            <a:spLocks noGrp="1"/>
          </p:cNvSpPr>
          <p:nvPr>
            <p:ph type="title"/>
          </p:nvPr>
        </p:nvSpPr>
        <p:spPr>
          <a:xfrm>
            <a:off x="572493" y="238539"/>
            <a:ext cx="11018520" cy="1434415"/>
          </a:xfrm>
        </p:spPr>
        <p:txBody>
          <a:bodyPr anchor="b">
            <a:normAutofit/>
          </a:bodyPr>
          <a:lstStyle/>
          <a:p>
            <a:r>
              <a:rPr lang="el-GR" sz="5400"/>
              <a:t>Μεθοδολογία &amp; Σύνολα Δεδομένων</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113D003B-5FA4-6676-C4C8-75C53B55FB75}"/>
              </a:ext>
            </a:extLst>
          </p:cNvPr>
          <p:cNvSpPr>
            <a:spLocks noGrp="1"/>
          </p:cNvSpPr>
          <p:nvPr>
            <p:ph idx="1"/>
          </p:nvPr>
        </p:nvSpPr>
        <p:spPr>
          <a:xfrm>
            <a:off x="572493" y="2071316"/>
            <a:ext cx="6713552" cy="4119172"/>
          </a:xfrm>
        </p:spPr>
        <p:txBody>
          <a:bodyPr anchor="t">
            <a:normAutofit/>
          </a:bodyPr>
          <a:lstStyle/>
          <a:p>
            <a:r>
              <a:rPr lang="el-GR" sz="2000" dirty="0">
                <a:latin typeface="Amasis MT Pro" panose="02040504050005020304" pitchFamily="18" charset="0"/>
              </a:rPr>
              <a:t>Πηγή Δεδομένων: Άντληση από την επίσημη βάση της Eurostat.</a:t>
            </a:r>
          </a:p>
          <a:p>
            <a:r>
              <a:rPr lang="el-GR" sz="2000" dirty="0">
                <a:latin typeface="Amasis MT Pro" panose="02040504050005020304" pitchFamily="18" charset="0"/>
              </a:rPr>
              <a:t>Datasets:</a:t>
            </a:r>
          </a:p>
          <a:p>
            <a:pPr marL="0" indent="0">
              <a:buNone/>
            </a:pPr>
            <a:r>
              <a:rPr lang="el-GR" sz="2000" u="sng" dirty="0">
                <a:latin typeface="Amasis MT Pro" panose="02040504050005020304" pitchFamily="18" charset="0"/>
              </a:rPr>
              <a:t>Ενέργεια</a:t>
            </a:r>
            <a:r>
              <a:rPr lang="el-GR" sz="2000" dirty="0">
                <a:latin typeface="Amasis MT Pro" panose="02040504050005020304" pitchFamily="18" charset="0"/>
              </a:rPr>
              <a:t>: Μερίδιο καυσίμων στην τελική κατανάλωση (στερεά ορυκτά, φυσικό αέριο, ηλεκτρισμός, ΑΠΕ).</a:t>
            </a:r>
          </a:p>
          <a:p>
            <a:pPr marL="0" indent="0">
              <a:buNone/>
            </a:pPr>
            <a:r>
              <a:rPr lang="el-GR" sz="2000" u="sng" dirty="0">
                <a:latin typeface="Amasis MT Pro" panose="02040504050005020304" pitchFamily="18" charset="0"/>
              </a:rPr>
              <a:t>Οικονομία</a:t>
            </a:r>
            <a:r>
              <a:rPr lang="el-GR" sz="2000" dirty="0">
                <a:latin typeface="Amasis MT Pro" panose="02040504050005020304" pitchFamily="18" charset="0"/>
              </a:rPr>
              <a:t>: Βασικοί δείκτες (καθαρές αποταμιεύσεις, τελική καταναλωτική δαπάνη, κρατικά έσοδα/έξοδα).</a:t>
            </a:r>
          </a:p>
          <a:p>
            <a:pPr marL="0" indent="0">
              <a:buNone/>
            </a:pPr>
            <a:r>
              <a:rPr lang="el-GR" sz="2000" u="sng" dirty="0">
                <a:latin typeface="Amasis MT Pro" panose="02040504050005020304" pitchFamily="18" charset="0"/>
              </a:rPr>
              <a:t>Περιβάλλον</a:t>
            </a:r>
            <a:r>
              <a:rPr lang="el-GR" sz="2000" dirty="0">
                <a:latin typeface="Amasis MT Pro" panose="02040504050005020304" pitchFamily="18" charset="0"/>
              </a:rPr>
              <a:t>: Καταγραφή εκπομπών αέριων ρύπων ανά τομέα παραγωγής.</a:t>
            </a:r>
          </a:p>
          <a:p>
            <a:r>
              <a:rPr lang="el-GR" sz="2000" dirty="0">
                <a:latin typeface="Amasis MT Pro" panose="02040504050005020304" pitchFamily="18" charset="0"/>
              </a:rPr>
              <a:t>Χρονικό Πλαίσιο (2018-2024): Η ανάλυση εστιάζει σε 6 κομβικά έτη, χωρισμένα σε 3 διακριτές φάσεις για την αξιολόγηση της επίδρασης της πανδημίας</a:t>
            </a:r>
          </a:p>
          <a:p>
            <a:endParaRPr lang="el-GR" sz="2000" dirty="0">
              <a:latin typeface="Amasis MT Pro" panose="02040504050005020304" pitchFamily="18" charset="0"/>
            </a:endParaRPr>
          </a:p>
        </p:txBody>
      </p:sp>
      <p:pic>
        <p:nvPicPr>
          <p:cNvPr id="5" name="Εικόνα 4">
            <a:extLst>
              <a:ext uri="{FF2B5EF4-FFF2-40B4-BE49-F238E27FC236}">
                <a16:creationId xmlns:a16="http://schemas.microsoft.com/office/drawing/2014/main" id="{B9192FEA-7F6F-8BD9-6D5C-6B5F01C1695C}"/>
              </a:ext>
            </a:extLst>
          </p:cNvPr>
          <p:cNvPicPr>
            <a:picLocks noChangeAspect="1"/>
          </p:cNvPicPr>
          <p:nvPr/>
        </p:nvPicPr>
        <p:blipFill>
          <a:blip r:embed="rId2">
            <a:extLst>
              <a:ext uri="{28A0092B-C50C-407E-A947-70E740481C1C}">
                <a14:useLocalDpi xmlns:a14="http://schemas.microsoft.com/office/drawing/2010/main" val="0"/>
              </a:ext>
            </a:extLst>
          </a:blip>
          <a:srcRect l="29425" r="16700"/>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4027430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0175C811-0919-9AE6-853C-8701CC4006C7}"/>
              </a:ext>
            </a:extLst>
          </p:cNvPr>
          <p:cNvSpPr>
            <a:spLocks noGrp="1"/>
          </p:cNvSpPr>
          <p:nvPr>
            <p:ph type="title"/>
          </p:nvPr>
        </p:nvSpPr>
        <p:spPr>
          <a:xfrm>
            <a:off x="841248" y="548640"/>
            <a:ext cx="3600860" cy="5431536"/>
          </a:xfrm>
        </p:spPr>
        <p:txBody>
          <a:bodyPr>
            <a:normAutofit/>
          </a:bodyPr>
          <a:lstStyle/>
          <a:p>
            <a:r>
              <a:rPr lang="el-GR" sz="5000" dirty="0"/>
              <a:t>Ερωτήματα Διερεύνησης</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Θέση περιεχομένου 2">
            <a:extLst>
              <a:ext uri="{FF2B5EF4-FFF2-40B4-BE49-F238E27FC236}">
                <a16:creationId xmlns:a16="http://schemas.microsoft.com/office/drawing/2014/main" id="{F0EDC073-99F8-B8E3-2795-C37C42511E66}"/>
              </a:ext>
            </a:extLst>
          </p:cNvPr>
          <p:cNvSpPr>
            <a:spLocks noGrp="1"/>
          </p:cNvSpPr>
          <p:nvPr>
            <p:ph idx="1"/>
          </p:nvPr>
        </p:nvSpPr>
        <p:spPr>
          <a:xfrm>
            <a:off x="5126418" y="552091"/>
            <a:ext cx="6224335" cy="5431536"/>
          </a:xfrm>
        </p:spPr>
        <p:txBody>
          <a:bodyPr anchor="ctr">
            <a:normAutofit/>
          </a:bodyPr>
          <a:lstStyle/>
          <a:p>
            <a:pPr marL="0" indent="0">
              <a:buNone/>
            </a:pPr>
            <a:r>
              <a:rPr lang="el-GR" sz="2200" u="sng" dirty="0">
                <a:latin typeface="Amasis MT Pro" panose="02040504050005020304" pitchFamily="18" charset="0"/>
              </a:rPr>
              <a:t>Βασικά Ερωτήματα:</a:t>
            </a:r>
          </a:p>
          <a:p>
            <a:pPr marL="514350" indent="-514350">
              <a:buFont typeface="+mj-lt"/>
              <a:buAutoNum type="arabicPeriod"/>
            </a:pPr>
            <a:r>
              <a:rPr lang="el-GR" sz="2200" dirty="0">
                <a:latin typeface="Amasis MT Pro" panose="02040504050005020304" pitchFamily="18" charset="0"/>
              </a:rPr>
              <a:t>Είναι εφικτή η οικονομική ανάπτυξη χωρίς αύξηση των ρύπων, μέσω της υψηλής διείσδυσης ΑΠΕ;</a:t>
            </a:r>
          </a:p>
          <a:p>
            <a:pPr marL="514350" indent="-514350">
              <a:buFont typeface="+mj-lt"/>
              <a:buAutoNum type="arabicPeriod"/>
            </a:pPr>
            <a:r>
              <a:rPr lang="el-GR" sz="2200" dirty="0">
                <a:latin typeface="Amasis MT Pro" panose="02040504050005020304" pitchFamily="18" charset="0"/>
              </a:rPr>
              <a:t>Πώς η αύξηση της Τελικής Καταναλωτικής Δαπάνης επηρεάζει τις εκπομπές ρύπων από κινητή καύση; Έχει η αυξημένη ζήτηση άμεσο περιβαλλοντικό "κόστος";</a:t>
            </a:r>
          </a:p>
          <a:p>
            <a:pPr marL="514350" indent="-514350">
              <a:buFont typeface="+mj-lt"/>
              <a:buAutoNum type="arabicPeriod"/>
            </a:pPr>
            <a:r>
              <a:rPr lang="el-GR" sz="2200" dirty="0">
                <a:latin typeface="Amasis MT Pro" panose="02040504050005020304" pitchFamily="18" charset="0"/>
              </a:rPr>
              <a:t>Μπορούν τα κράτη-μέλη να ηγούνται στις ΑΠΕ διατηρώντας ταυτόχρονα ισχυρά οικονομικά θεμέλια (π.χ. θετικές αποταμιεύσεις);</a:t>
            </a:r>
          </a:p>
          <a:p>
            <a:pPr marL="514350" indent="-514350">
              <a:buFont typeface="+mj-lt"/>
              <a:buAutoNum type="arabicPeriod"/>
            </a:pPr>
            <a:r>
              <a:rPr lang="el-GR" sz="2200" dirty="0">
                <a:latin typeface="Amasis MT Pro" panose="02040504050005020304" pitchFamily="18" charset="0"/>
              </a:rPr>
              <a:t>Αποτελούν οι ρυπογόνες δραστηριότητες (π.χ. η Διύλιση Πετρελαίου) βασικό "μοχλό" άντλησης κρατικών φορολογικών εσόδων;</a:t>
            </a:r>
          </a:p>
          <a:p>
            <a:endParaRPr lang="el-GR" sz="2200" dirty="0">
              <a:latin typeface="Amasis MT Pro" panose="02040504050005020304" pitchFamily="18" charset="0"/>
            </a:endParaRPr>
          </a:p>
        </p:txBody>
      </p:sp>
    </p:spTree>
    <p:extLst>
      <p:ext uri="{BB962C8B-B14F-4D97-AF65-F5344CB8AC3E}">
        <p14:creationId xmlns:p14="http://schemas.microsoft.com/office/powerpoint/2010/main" val="2891547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Τίτλος 1">
            <a:extLst>
              <a:ext uri="{FF2B5EF4-FFF2-40B4-BE49-F238E27FC236}">
                <a16:creationId xmlns:a16="http://schemas.microsoft.com/office/drawing/2014/main" id="{13C41828-FE5E-2CEE-40B3-2BE8203A414B}"/>
              </a:ext>
            </a:extLst>
          </p:cNvPr>
          <p:cNvSpPr>
            <a:spLocks noGrp="1"/>
          </p:cNvSpPr>
          <p:nvPr>
            <p:ph type="title"/>
          </p:nvPr>
        </p:nvSpPr>
        <p:spPr>
          <a:xfrm>
            <a:off x="572493" y="238539"/>
            <a:ext cx="11018520" cy="1434415"/>
          </a:xfrm>
        </p:spPr>
        <p:txBody>
          <a:bodyPr anchor="b">
            <a:normAutofit/>
          </a:bodyPr>
          <a:lstStyle/>
          <a:p>
            <a:r>
              <a:rPr lang="el-GR" sz="4600" dirty="0"/>
              <a:t>1)Συσχέτιση Οικονομικής Ανάπτυξης, Εκπομπών Ρύπων και Διείσδυσης ΑΠΕ </a:t>
            </a: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Θέση περιεχομένου 2">
            <a:extLst>
              <a:ext uri="{FF2B5EF4-FFF2-40B4-BE49-F238E27FC236}">
                <a16:creationId xmlns:a16="http://schemas.microsoft.com/office/drawing/2014/main" id="{2834D4F2-7424-4BAE-B9FD-B660920FBD14}"/>
              </a:ext>
            </a:extLst>
          </p:cNvPr>
          <p:cNvSpPr>
            <a:spLocks noGrp="1"/>
          </p:cNvSpPr>
          <p:nvPr>
            <p:ph idx="1"/>
          </p:nvPr>
        </p:nvSpPr>
        <p:spPr>
          <a:xfrm>
            <a:off x="572493" y="2071316"/>
            <a:ext cx="6713552" cy="4119172"/>
          </a:xfrm>
        </p:spPr>
        <p:txBody>
          <a:bodyPr anchor="t">
            <a:normAutofit fontScale="85000" lnSpcReduction="20000"/>
          </a:bodyPr>
          <a:lstStyle/>
          <a:p>
            <a:r>
              <a:rPr lang="el-GR" sz="2400" b="1" u="sng" dirty="0">
                <a:latin typeface="Amasis MT Pro" panose="02040504050005020304" pitchFamily="18" charset="0"/>
              </a:rPr>
              <a:t>Αρχική Σταθερότητα</a:t>
            </a:r>
            <a:r>
              <a:rPr lang="en-US" sz="2400" b="1" i="1" dirty="0">
                <a:latin typeface="Amasis MT Pro" panose="02040504050005020304" pitchFamily="18" charset="0"/>
              </a:rPr>
              <a:t>:</a:t>
            </a:r>
            <a:r>
              <a:rPr lang="el-GR" sz="2400" dirty="0">
                <a:latin typeface="Amasis MT Pro" panose="02040504050005020304" pitchFamily="18" charset="0"/>
              </a:rPr>
              <a:t> Παρατηρείται ήπια οικονομική ανάπτυξη με συγκράτηση των ρύπων, δείχνοντας τα πρώτα οφέλη από τη μετάβαση στις ΑΠΕ.</a:t>
            </a:r>
            <a:r>
              <a:rPr lang="en-US" sz="2400" dirty="0">
                <a:latin typeface="Amasis MT Pro" panose="02040504050005020304" pitchFamily="18" charset="0"/>
              </a:rPr>
              <a:t>(2018-2019)</a:t>
            </a:r>
            <a:endParaRPr lang="el-GR" sz="2400" dirty="0">
              <a:latin typeface="Amasis MT Pro" panose="02040504050005020304" pitchFamily="18" charset="0"/>
            </a:endParaRPr>
          </a:p>
          <a:p>
            <a:r>
              <a:rPr lang="el-GR" sz="2400" b="1" u="sng" dirty="0">
                <a:latin typeface="Amasis MT Pro" panose="02040504050005020304" pitchFamily="18" charset="0"/>
              </a:rPr>
              <a:t>Πράσινη Ανάκαμψη</a:t>
            </a:r>
            <a:r>
              <a:rPr lang="en-US" sz="2400" b="1" u="sng" dirty="0">
                <a:latin typeface="Amasis MT Pro" panose="02040504050005020304" pitchFamily="18" charset="0"/>
              </a:rPr>
              <a:t>: </a:t>
            </a:r>
            <a:r>
              <a:rPr lang="el-GR" sz="2400" dirty="0">
                <a:latin typeface="Amasis MT Pro" panose="02040504050005020304" pitchFamily="18" charset="0"/>
              </a:rPr>
              <a:t>Μετά την ύφεση του 2020, η γρήγορη οικονομική επανεκκίνηση το 2021 δεν οδήγησε σε εκτίναξη των εκπομπών, καθώς οι ΑΠΕ απορρόφησαν την αυξημένη ενεργειακή ζήτηση.</a:t>
            </a:r>
          </a:p>
          <a:p>
            <a:r>
              <a:rPr lang="el-GR" sz="2400" b="1" u="sng" dirty="0">
                <a:latin typeface="Amasis MT Pro" panose="02040504050005020304" pitchFamily="18" charset="0"/>
              </a:rPr>
              <a:t>Επιβεβαίωση Αποσύνδεσης</a:t>
            </a:r>
            <a:r>
              <a:rPr lang="en-US" sz="2400" b="1" u="sng" dirty="0">
                <a:latin typeface="Amasis MT Pro" panose="02040504050005020304" pitchFamily="18" charset="0"/>
              </a:rPr>
              <a:t>:</a:t>
            </a:r>
            <a:r>
              <a:rPr lang="en-US" sz="2400" b="1" dirty="0">
                <a:latin typeface="Amasis MT Pro" panose="02040504050005020304" pitchFamily="18" charset="0"/>
              </a:rPr>
              <a:t> </a:t>
            </a:r>
            <a:r>
              <a:rPr lang="el-GR" sz="2400" dirty="0">
                <a:latin typeface="Amasis MT Pro" panose="02040504050005020304" pitchFamily="18" charset="0"/>
              </a:rPr>
              <a:t>Καταγράφεται σημαντική αύξηση της παραγωγής με ταυτόχρονη σταθεροποίηση ή και πτώση των ρύπων</a:t>
            </a:r>
            <a:r>
              <a:rPr lang="en-US" sz="2400" dirty="0">
                <a:latin typeface="Amasis MT Pro" panose="02040504050005020304" pitchFamily="18" charset="0"/>
              </a:rPr>
              <a:t>,</a:t>
            </a:r>
            <a:r>
              <a:rPr lang="el-GR" sz="2400" dirty="0">
                <a:latin typeface="Amasis MT Pro" panose="02040504050005020304" pitchFamily="18" charset="0"/>
              </a:rPr>
              <a:t> ειδικά στις χώρες με υψηλό ποσοστό ΑΠΕ.</a:t>
            </a:r>
            <a:endParaRPr lang="en-US" sz="2400" dirty="0">
              <a:latin typeface="Amasis MT Pro" panose="02040504050005020304" pitchFamily="18" charset="0"/>
            </a:endParaRPr>
          </a:p>
          <a:p>
            <a:r>
              <a:rPr lang="el-GR" sz="2400" b="1" u="sng" dirty="0"/>
              <a:t>Συμπέρασμα</a:t>
            </a:r>
            <a:r>
              <a:rPr lang="el-GR" sz="2400" b="1" dirty="0"/>
              <a:t>:</a:t>
            </a:r>
            <a:r>
              <a:rPr lang="el-GR" sz="2400" dirty="0"/>
              <a:t> Η υψηλή διείσδυση ΑΠΕ επιτρέπει στα κράτη να πετύχουν βιώσιμη οικονομική ανάπτυξη, "σπάζοντας" τον παραδοσιακό κανόνα που συνέδεε την αύξηση του ΑΕΠ με την αύξηση της περιβαλλοντικής ρύπανσης</a:t>
            </a:r>
            <a:r>
              <a:rPr lang="en-US" sz="2400" dirty="0"/>
              <a:t>.</a:t>
            </a:r>
            <a:endParaRPr lang="el-GR" sz="2400" dirty="0">
              <a:latin typeface="Amasis MT Pro" panose="02040504050005020304" pitchFamily="18" charset="0"/>
            </a:endParaRPr>
          </a:p>
        </p:txBody>
      </p:sp>
      <p:pic>
        <p:nvPicPr>
          <p:cNvPr id="9" name="Εικόνα 8">
            <a:extLst>
              <a:ext uri="{FF2B5EF4-FFF2-40B4-BE49-F238E27FC236}">
                <a16:creationId xmlns:a16="http://schemas.microsoft.com/office/drawing/2014/main" id="{E651E559-0651-E61D-062D-601E17BDBB34}"/>
              </a:ext>
            </a:extLst>
          </p:cNvPr>
          <p:cNvPicPr>
            <a:picLocks noChangeAspect="1"/>
          </p:cNvPicPr>
          <p:nvPr/>
        </p:nvPicPr>
        <p:blipFill>
          <a:blip r:embed="rId2">
            <a:extLst>
              <a:ext uri="{28A0092B-C50C-407E-A947-70E740481C1C}">
                <a14:useLocalDpi xmlns:a14="http://schemas.microsoft.com/office/drawing/2010/main" val="0"/>
              </a:ext>
            </a:extLst>
          </a:blip>
          <a:srcRect l="21273" r="20602" b="-1"/>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066149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Τίτλος 1">
            <a:extLst>
              <a:ext uri="{FF2B5EF4-FFF2-40B4-BE49-F238E27FC236}">
                <a16:creationId xmlns:a16="http://schemas.microsoft.com/office/drawing/2014/main" id="{60158A49-7C9D-3312-DC99-1B5C957085AC}"/>
              </a:ext>
            </a:extLst>
          </p:cNvPr>
          <p:cNvSpPr>
            <a:spLocks noGrp="1"/>
          </p:cNvSpPr>
          <p:nvPr>
            <p:ph type="title"/>
          </p:nvPr>
        </p:nvSpPr>
        <p:spPr>
          <a:xfrm>
            <a:off x="572493" y="238539"/>
            <a:ext cx="11018520" cy="1434415"/>
          </a:xfrm>
        </p:spPr>
        <p:txBody>
          <a:bodyPr anchor="b">
            <a:normAutofit/>
          </a:bodyPr>
          <a:lstStyle/>
          <a:p>
            <a:r>
              <a:rPr lang="el-GR" sz="4600" dirty="0"/>
              <a:t>2)Εξέλιξη Καταναλωτικής Δαπάνης έναντι Εκπομπών από Κινητή Καύση</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Θέση περιεχομένου 2">
            <a:extLst>
              <a:ext uri="{FF2B5EF4-FFF2-40B4-BE49-F238E27FC236}">
                <a16:creationId xmlns:a16="http://schemas.microsoft.com/office/drawing/2014/main" id="{7F400B60-4872-4A96-7342-7487BEF09E67}"/>
              </a:ext>
            </a:extLst>
          </p:cNvPr>
          <p:cNvSpPr>
            <a:spLocks noGrp="1"/>
          </p:cNvSpPr>
          <p:nvPr>
            <p:ph idx="1"/>
          </p:nvPr>
        </p:nvSpPr>
        <p:spPr>
          <a:xfrm>
            <a:off x="572493" y="2071316"/>
            <a:ext cx="6713552" cy="4119172"/>
          </a:xfrm>
        </p:spPr>
        <p:txBody>
          <a:bodyPr anchor="t">
            <a:normAutofit/>
          </a:bodyPr>
          <a:lstStyle/>
          <a:p>
            <a:r>
              <a:rPr lang="el-GR" sz="2200" b="1" u="sng" dirty="0">
                <a:latin typeface="Amasis MT Pro" panose="02040504050005020304" pitchFamily="18" charset="0"/>
              </a:rPr>
              <a:t>Συνεχής Άνοδος Δαπανών</a:t>
            </a:r>
            <a:r>
              <a:rPr lang="el-GR" sz="2200" b="1" dirty="0">
                <a:latin typeface="Amasis MT Pro" panose="02040504050005020304" pitchFamily="18" charset="0"/>
              </a:rPr>
              <a:t>:</a:t>
            </a:r>
            <a:r>
              <a:rPr lang="el-GR" sz="2200" dirty="0">
                <a:latin typeface="Amasis MT Pro" panose="02040504050005020304" pitchFamily="18" charset="0"/>
              </a:rPr>
              <a:t> Από το 2018 έως το 2023, η Τελική Καταναλωτική Δαπάνη παρουσιάζει σταθερή αυξητική τάση.</a:t>
            </a:r>
          </a:p>
          <a:p>
            <a:r>
              <a:rPr lang="el-GR" sz="2200" b="1" u="sng" dirty="0">
                <a:latin typeface="Amasis MT Pro" panose="02040504050005020304" pitchFamily="18" charset="0"/>
              </a:rPr>
              <a:t>Πτώση Ρύπων</a:t>
            </a:r>
            <a:r>
              <a:rPr lang="el-GR" sz="2200" dirty="0">
                <a:latin typeface="Amasis MT Pro" panose="02040504050005020304" pitchFamily="18" charset="0"/>
              </a:rPr>
              <a:t>: Παρά την αύξηση της ζήτησης, οι εκπομπές από την κινητή καύση μειώθηκαν δραστικά το 2020.</a:t>
            </a:r>
          </a:p>
          <a:p>
            <a:r>
              <a:rPr lang="el-GR" sz="2200" b="1" u="sng" dirty="0">
                <a:latin typeface="Amasis MT Pro" panose="02040504050005020304" pitchFamily="18" charset="0"/>
              </a:rPr>
              <a:t>Αποσύνδεση (Decoupling): </a:t>
            </a:r>
            <a:r>
              <a:rPr lang="el-GR" sz="2200" dirty="0">
                <a:latin typeface="Amasis MT Pro" panose="02040504050005020304" pitchFamily="18" charset="0"/>
              </a:rPr>
              <a:t>Μετά το 2021, οι ρύποι παραμένουν σε χαμηλότερα επίπεδα από το 2019, ενώ η δαπάνη συνεχίζει να ανεβαίνει.</a:t>
            </a:r>
          </a:p>
          <a:p>
            <a:r>
              <a:rPr lang="el-GR" sz="2200" b="1" u="sng" dirty="0">
                <a:latin typeface="Amasis MT Pro" panose="02040504050005020304" pitchFamily="18" charset="0"/>
              </a:rPr>
              <a:t>Συμπέρασμα:</a:t>
            </a:r>
            <a:r>
              <a:rPr lang="el-GR" sz="2200" dirty="0">
                <a:latin typeface="Amasis MT Pro" panose="02040504050005020304" pitchFamily="18" charset="0"/>
              </a:rPr>
              <a:t> Η αυξημένη ζήτηση αγαθών δεν μεταφράζεται πλέον αυτόματα σε περιβαλλοντικό κόστος.</a:t>
            </a:r>
          </a:p>
        </p:txBody>
      </p:sp>
      <p:pic>
        <p:nvPicPr>
          <p:cNvPr id="5" name="Εικόνα 4">
            <a:extLst>
              <a:ext uri="{FF2B5EF4-FFF2-40B4-BE49-F238E27FC236}">
                <a16:creationId xmlns:a16="http://schemas.microsoft.com/office/drawing/2014/main" id="{0217820D-EE0B-14AE-CC0E-25FE753FF547}"/>
              </a:ext>
            </a:extLst>
          </p:cNvPr>
          <p:cNvPicPr>
            <a:picLocks noChangeAspect="1"/>
          </p:cNvPicPr>
          <p:nvPr/>
        </p:nvPicPr>
        <p:blipFill>
          <a:blip r:embed="rId2">
            <a:extLst>
              <a:ext uri="{28A0092B-C50C-407E-A947-70E740481C1C}">
                <a14:useLocalDpi xmlns:a14="http://schemas.microsoft.com/office/drawing/2010/main" val="0"/>
              </a:ext>
            </a:extLst>
          </a:blip>
          <a:srcRect l="25174" r="11091"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909950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Τίτλος 1">
            <a:extLst>
              <a:ext uri="{FF2B5EF4-FFF2-40B4-BE49-F238E27FC236}">
                <a16:creationId xmlns:a16="http://schemas.microsoft.com/office/drawing/2014/main" id="{BE1E7C54-A39C-2F69-584C-18A81FBF5CF9}"/>
              </a:ext>
            </a:extLst>
          </p:cNvPr>
          <p:cNvSpPr>
            <a:spLocks noGrp="1"/>
          </p:cNvSpPr>
          <p:nvPr>
            <p:ph type="title"/>
          </p:nvPr>
        </p:nvSpPr>
        <p:spPr>
          <a:xfrm>
            <a:off x="572493" y="238539"/>
            <a:ext cx="11018520" cy="1434415"/>
          </a:xfrm>
        </p:spPr>
        <p:txBody>
          <a:bodyPr anchor="b">
            <a:normAutofit/>
          </a:bodyPr>
          <a:lstStyle/>
          <a:p>
            <a:r>
              <a:rPr lang="el-GR" sz="4600" dirty="0"/>
              <a:t>3)Σύγκριση Καθαρών Αποταμιεύσεων και Διείσδυσης ΑΠΕ ανά Χώρα</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Θέση περιεχομένου 2">
            <a:extLst>
              <a:ext uri="{FF2B5EF4-FFF2-40B4-BE49-F238E27FC236}">
                <a16:creationId xmlns:a16="http://schemas.microsoft.com/office/drawing/2014/main" id="{CA5F53F1-F7F4-A4CB-B976-D4DB07A14124}"/>
              </a:ext>
            </a:extLst>
          </p:cNvPr>
          <p:cNvSpPr>
            <a:spLocks noGrp="1"/>
          </p:cNvSpPr>
          <p:nvPr>
            <p:ph idx="1"/>
          </p:nvPr>
        </p:nvSpPr>
        <p:spPr>
          <a:xfrm>
            <a:off x="572493" y="2071316"/>
            <a:ext cx="6713552" cy="4119172"/>
          </a:xfrm>
        </p:spPr>
        <p:txBody>
          <a:bodyPr anchor="t">
            <a:noAutofit/>
          </a:bodyPr>
          <a:lstStyle/>
          <a:p>
            <a:r>
              <a:rPr lang="el-GR" sz="2200" b="1" u="sng" dirty="0">
                <a:latin typeface="Amasis MT Pro" panose="02040504050005020304" pitchFamily="18" charset="0"/>
              </a:rPr>
              <a:t>Ηγέτιδα η Σουηδία</a:t>
            </a:r>
            <a:r>
              <a:rPr lang="el-GR" sz="2200" b="1" dirty="0">
                <a:latin typeface="Amasis MT Pro" panose="02040504050005020304" pitchFamily="18" charset="0"/>
              </a:rPr>
              <a:t>:</a:t>
            </a:r>
            <a:r>
              <a:rPr lang="el-GR" sz="2200" dirty="0">
                <a:latin typeface="Amasis MT Pro" panose="02040504050005020304" pitchFamily="18" charset="0"/>
              </a:rPr>
              <a:t> Είναι η μόνη χώρα στο δείγμα που διατηρεί θετικές καθαρές αποταμιεύσεις ενώ ηγείται στις ΑΠΕ.</a:t>
            </a:r>
          </a:p>
          <a:p>
            <a:r>
              <a:rPr lang="el-GR" sz="2200" b="1" u="sng" dirty="0">
                <a:latin typeface="Amasis MT Pro" panose="02040504050005020304" pitchFamily="18" charset="0"/>
              </a:rPr>
              <a:t>Δημοσιονομική Πίεση</a:t>
            </a:r>
            <a:r>
              <a:rPr lang="el-GR" sz="2200" b="1" dirty="0">
                <a:latin typeface="Amasis MT Pro" panose="02040504050005020304" pitchFamily="18" charset="0"/>
              </a:rPr>
              <a:t>:</a:t>
            </a:r>
            <a:r>
              <a:rPr lang="el-GR" sz="2200" dirty="0">
                <a:latin typeface="Amasis MT Pro" panose="02040504050005020304" pitchFamily="18" charset="0"/>
              </a:rPr>
              <a:t> Χώρες όπως η Αυστρία, η Φινλανδία και η Πορτογαλία εμφανίζουν αρνητικές αποταμιεύσεις στο συγκεκριμένο γράφημα.</a:t>
            </a:r>
          </a:p>
          <a:p>
            <a:r>
              <a:rPr lang="el-GR" sz="2200" b="1" u="sng" dirty="0">
                <a:latin typeface="Amasis MT Pro" panose="02040504050005020304" pitchFamily="18" charset="0"/>
              </a:rPr>
              <a:t>Συσχέτιση</a:t>
            </a:r>
            <a:r>
              <a:rPr lang="el-GR" sz="2200" b="1" dirty="0">
                <a:latin typeface="Amasis MT Pro" panose="02040504050005020304" pitchFamily="18" charset="0"/>
              </a:rPr>
              <a:t>:</a:t>
            </a:r>
            <a:r>
              <a:rPr lang="el-GR" sz="2200" dirty="0">
                <a:latin typeface="Amasis MT Pro" panose="02040504050005020304" pitchFamily="18" charset="0"/>
              </a:rPr>
              <a:t> Η υψηλή διείσδυση ΑΠΕ απαιτεί ισχυρά οικονομικά θεμέλια για να είναι βιώσιμη μακροπρόθεσμα.</a:t>
            </a:r>
          </a:p>
          <a:p>
            <a:r>
              <a:rPr lang="el-GR" sz="2200" b="1" u="sng" dirty="0">
                <a:latin typeface="Amasis MT Pro" panose="02040504050005020304" pitchFamily="18" charset="0"/>
              </a:rPr>
              <a:t>Συμπέρασμα</a:t>
            </a:r>
            <a:r>
              <a:rPr lang="el-GR" sz="2200" b="1" dirty="0">
                <a:latin typeface="Amasis MT Pro" panose="02040504050005020304" pitchFamily="18" charset="0"/>
              </a:rPr>
              <a:t>:</a:t>
            </a:r>
            <a:r>
              <a:rPr lang="el-GR" sz="2200" dirty="0">
                <a:latin typeface="Amasis MT Pro" panose="02040504050005020304" pitchFamily="18" charset="0"/>
              </a:rPr>
              <a:t> Η Σουηδία αποτελεί το πρότυπο "Πράσινης Ανάπτυξης" με δημοσιονομική πειθαρχία.</a:t>
            </a:r>
          </a:p>
        </p:txBody>
      </p:sp>
      <p:pic>
        <p:nvPicPr>
          <p:cNvPr id="5" name="Εικόνα 4">
            <a:extLst>
              <a:ext uri="{FF2B5EF4-FFF2-40B4-BE49-F238E27FC236}">
                <a16:creationId xmlns:a16="http://schemas.microsoft.com/office/drawing/2014/main" id="{CDF0C08B-6B80-B255-833D-5B07749A295C}"/>
              </a:ext>
            </a:extLst>
          </p:cNvPr>
          <p:cNvPicPr>
            <a:picLocks noChangeAspect="1"/>
          </p:cNvPicPr>
          <p:nvPr/>
        </p:nvPicPr>
        <p:blipFill>
          <a:blip r:embed="rId2">
            <a:extLst>
              <a:ext uri="{28A0092B-C50C-407E-A947-70E740481C1C}">
                <a14:useLocalDpi xmlns:a14="http://schemas.microsoft.com/office/drawing/2010/main" val="0"/>
              </a:ext>
            </a:extLst>
          </a:blip>
          <a:srcRect l="38878" r="3158"/>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449815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12B8437B-BAD1-8AF0-DF2D-9F77F197BB17}"/>
              </a:ext>
            </a:extLst>
          </p:cNvPr>
          <p:cNvSpPr>
            <a:spLocks noGrp="1"/>
          </p:cNvSpPr>
          <p:nvPr>
            <p:ph type="title"/>
          </p:nvPr>
        </p:nvSpPr>
        <p:spPr>
          <a:xfrm>
            <a:off x="572493" y="238539"/>
            <a:ext cx="11018520" cy="1434415"/>
          </a:xfrm>
        </p:spPr>
        <p:txBody>
          <a:bodyPr anchor="b">
            <a:normAutofit/>
          </a:bodyPr>
          <a:lstStyle/>
          <a:p>
            <a:r>
              <a:rPr lang="el-GR" sz="4600"/>
              <a:t>4)Φορολογικά Έσοδα έναντι Ρύπων Διύλισης Πετρελαίου</a:t>
            </a:r>
          </a:p>
        </p:txBody>
      </p:sp>
      <p:sp>
        <p:nvSpPr>
          <p:cNvPr id="1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D86144D6-2382-F9F4-BD13-58691E4AB001}"/>
              </a:ext>
            </a:extLst>
          </p:cNvPr>
          <p:cNvSpPr>
            <a:spLocks noGrp="1"/>
          </p:cNvSpPr>
          <p:nvPr>
            <p:ph idx="1"/>
          </p:nvPr>
        </p:nvSpPr>
        <p:spPr>
          <a:xfrm>
            <a:off x="572493" y="2071316"/>
            <a:ext cx="6713552" cy="4119172"/>
          </a:xfrm>
        </p:spPr>
        <p:txBody>
          <a:bodyPr anchor="t">
            <a:normAutofit fontScale="92500" lnSpcReduction="10000"/>
          </a:bodyPr>
          <a:lstStyle/>
          <a:p>
            <a:r>
              <a:rPr lang="el-GR" sz="2000" b="1" u="sng" dirty="0"/>
              <a:t>Παραδοσιακή Συσχέτιση</a:t>
            </a:r>
            <a:r>
              <a:rPr lang="el-GR" sz="2000" b="1" i="1" u="sng" dirty="0"/>
              <a:t>:</a:t>
            </a:r>
            <a:r>
              <a:rPr lang="el-GR" sz="2000" dirty="0"/>
              <a:t> Χώρες με ισχυρή βιομηχανία (π.χ. Γαλλία, Ιταλία, Γερμανία) παρουσιάζουν υψηλά φορολογικά έσοδα αλλά ταυτόχρονα και υψηλούς ρύπους διύλισης.</a:t>
            </a:r>
          </a:p>
          <a:p>
            <a:r>
              <a:rPr lang="el-GR" sz="2000" b="1" u="sng" dirty="0"/>
              <a:t>Το Σοκ της Ζήτησης: </a:t>
            </a:r>
            <a:r>
              <a:rPr lang="el-GR" sz="2000" dirty="0"/>
              <a:t>Το 2020 καταγράφεται οριζόντια υποχώρηση των ρύπων λόγω της μειωμένης κίνησης και παραγωγής. Με την επανεκκίνηση το 2021, τα έσοδα ανακάμπτουν ταχύτερα από την άνοδο των εκπομπών.</a:t>
            </a:r>
          </a:p>
          <a:p>
            <a:r>
              <a:rPr lang="el-GR" sz="2000" b="1" u="sng" dirty="0"/>
              <a:t>Αλλαγή Παραδείγματος: </a:t>
            </a:r>
            <a:r>
              <a:rPr lang="el-GR" sz="2000" dirty="0"/>
              <a:t>Καταγράφεται μια εντυπωσιακή και κατακόρυφη αύξηση φορολογικών εσόδων, ενώ οι ρύποι παραμένουν χαμηλότεροι από τα προ-πανδημικά επίπεδα.</a:t>
            </a:r>
          </a:p>
          <a:p>
            <a:r>
              <a:rPr lang="el-GR" sz="2000" b="1" dirty="0"/>
              <a:t>Συμπέρασμα:</a:t>
            </a:r>
            <a:r>
              <a:rPr lang="el-GR" sz="2000" dirty="0"/>
              <a:t> Η περιβαλλοντική επιβάρυνση από τη διύλιση πετρελαίου παύει να αποτελεί τον άμεσο "μοχλό</a:t>
            </a:r>
            <a:r>
              <a:rPr lang="el-GR" sz="2000" b="1" dirty="0"/>
              <a:t>"</a:t>
            </a:r>
            <a:r>
              <a:rPr lang="el-GR" sz="2000" dirty="0"/>
              <a:t> αύξησης των κρατικών εσόδων. Η αποσύνδεση αυτή υποδεικνύει ότι τα κράτη αντλούν πλέον αξία από άλλες πηγές, μειώνοντας την εξάρτησή τους από τα ορυκτά καύσιμα.</a:t>
            </a:r>
          </a:p>
          <a:p>
            <a:pPr marL="0" indent="0">
              <a:buNone/>
            </a:pPr>
            <a:endParaRPr lang="el-GR" sz="2000" dirty="0"/>
          </a:p>
        </p:txBody>
      </p:sp>
      <p:pic>
        <p:nvPicPr>
          <p:cNvPr id="7" name="Εικόνα 6">
            <a:extLst>
              <a:ext uri="{FF2B5EF4-FFF2-40B4-BE49-F238E27FC236}">
                <a16:creationId xmlns:a16="http://schemas.microsoft.com/office/drawing/2014/main" id="{F918CD2D-3D06-86D1-0741-46AB71B930A5}"/>
              </a:ext>
            </a:extLst>
          </p:cNvPr>
          <p:cNvPicPr>
            <a:picLocks noChangeAspect="1"/>
          </p:cNvPicPr>
          <p:nvPr/>
        </p:nvPicPr>
        <p:blipFill>
          <a:blip r:embed="rId2">
            <a:extLst>
              <a:ext uri="{28A0092B-C50C-407E-A947-70E740481C1C}">
                <a14:useLocalDpi xmlns:a14="http://schemas.microsoft.com/office/drawing/2010/main" val="0"/>
              </a:ext>
            </a:extLst>
          </a:blip>
          <a:srcRect l="46125"/>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4233679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57016CE9-6508-E45D-13B2-9B935F78F7C1}"/>
              </a:ext>
            </a:extLst>
          </p:cNvPr>
          <p:cNvSpPr>
            <a:spLocks noGrp="1"/>
          </p:cNvSpPr>
          <p:nvPr>
            <p:ph type="title"/>
          </p:nvPr>
        </p:nvSpPr>
        <p:spPr>
          <a:xfrm>
            <a:off x="841248" y="548640"/>
            <a:ext cx="3600860" cy="5431536"/>
          </a:xfrm>
        </p:spPr>
        <p:txBody>
          <a:bodyPr>
            <a:normAutofit/>
          </a:bodyPr>
          <a:lstStyle/>
          <a:p>
            <a:r>
              <a:rPr lang="el-GR" sz="4200"/>
              <a:t>Συμπεράσματα: Το "Παράδοξο" της Πράσινης Μετάβασης</a:t>
            </a:r>
          </a:p>
        </p:txBody>
      </p:sp>
      <p:sp>
        <p:nvSpPr>
          <p:cNvPr id="28"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Θέση περιεχομένου 2">
            <a:extLst>
              <a:ext uri="{FF2B5EF4-FFF2-40B4-BE49-F238E27FC236}">
                <a16:creationId xmlns:a16="http://schemas.microsoft.com/office/drawing/2014/main" id="{FC66AC29-E9D5-6E5D-3C1C-992AD2B5C4D3}"/>
              </a:ext>
            </a:extLst>
          </p:cNvPr>
          <p:cNvSpPr>
            <a:spLocks noGrp="1"/>
          </p:cNvSpPr>
          <p:nvPr>
            <p:ph idx="1"/>
          </p:nvPr>
        </p:nvSpPr>
        <p:spPr>
          <a:xfrm>
            <a:off x="5126418" y="552091"/>
            <a:ext cx="6224335" cy="5431536"/>
          </a:xfrm>
        </p:spPr>
        <p:txBody>
          <a:bodyPr anchor="ctr">
            <a:normAutofit lnSpcReduction="10000"/>
          </a:bodyPr>
          <a:lstStyle/>
          <a:p>
            <a:r>
              <a:rPr lang="el-GR" sz="2000" u="sng" dirty="0">
                <a:latin typeface="Amasis MT Pro" panose="02040504050005020304" pitchFamily="18" charset="0"/>
              </a:rPr>
              <a:t>Αποσύνδεση Οικονομίας-Περιβάλλοντος</a:t>
            </a:r>
            <a:r>
              <a:rPr lang="el-GR" sz="2000" dirty="0">
                <a:latin typeface="Amasis MT Pro" panose="02040504050005020304" pitchFamily="18" charset="0"/>
              </a:rPr>
              <a:t>: Αποδεικνύεται πρακτικά (π.χ. Σουηδία) ότι η οικονομική μεγέθυνση μπορεί να επιτευχθεί με ταυτόχρονη μείωση των ρύπων.</a:t>
            </a:r>
          </a:p>
          <a:p>
            <a:r>
              <a:rPr lang="el-GR" sz="2000" u="sng" dirty="0">
                <a:latin typeface="Amasis MT Pro" panose="02040504050005020304" pitchFamily="18" charset="0"/>
              </a:rPr>
              <a:t>Συγκυριακή </a:t>
            </a:r>
            <a:r>
              <a:rPr lang="el-GR" sz="2000" u="sng" dirty="0" err="1">
                <a:latin typeface="Amasis MT Pro" panose="02040504050005020304" pitchFamily="18" charset="0"/>
              </a:rPr>
              <a:t>vs</a:t>
            </a:r>
            <a:r>
              <a:rPr lang="el-GR" sz="2000" u="sng" dirty="0">
                <a:latin typeface="Amasis MT Pro" panose="02040504050005020304" pitchFamily="18" charset="0"/>
              </a:rPr>
              <a:t>. Δομική Μείωση</a:t>
            </a:r>
            <a:r>
              <a:rPr lang="el-GR" sz="2000" dirty="0">
                <a:latin typeface="Amasis MT Pro" panose="02040504050005020304" pitchFamily="18" charset="0"/>
              </a:rPr>
              <a:t>: Η πτώση των εκπομπών σχετίζεται άμεσα με βελτιώσεις στην τεχνολογία, αλλά επηρεάστηκε εντονότατα από τη διακοπή δραστηριοτήτων κατά την περίοδο της πανδημίας.</a:t>
            </a:r>
          </a:p>
          <a:p>
            <a:r>
              <a:rPr lang="el-GR" sz="2000" u="sng" dirty="0">
                <a:latin typeface="Amasis MT Pro" panose="02040504050005020304" pitchFamily="18" charset="0"/>
              </a:rPr>
              <a:t>Το Δημοσιονομικό Κόστος των ΑΠΕ</a:t>
            </a:r>
            <a:r>
              <a:rPr lang="el-GR" sz="2000" dirty="0">
                <a:latin typeface="Amasis MT Pro" panose="02040504050005020304" pitchFamily="18" charset="0"/>
              </a:rPr>
              <a:t>: Η μετάβαση σε καθαρό ενεργειακό μείγμα είναι εξαιρετικά δαπανηρή. Απαιτεί ισχυρές οικονομίες, ειδάλλως οδηγεί σε "κάψιμο" των κρατικών αποταμιεύσεων.</a:t>
            </a:r>
          </a:p>
          <a:p>
            <a:r>
              <a:rPr lang="el-GR" sz="2000" u="sng" dirty="0">
                <a:latin typeface="Amasis MT Pro" panose="02040504050005020304" pitchFamily="18" charset="0"/>
              </a:rPr>
              <a:t>Νέο Μοντέλο Κρατικών Εσόδων: </a:t>
            </a:r>
            <a:r>
              <a:rPr lang="el-GR" sz="2000" dirty="0">
                <a:latin typeface="Amasis MT Pro" panose="02040504050005020304" pitchFamily="18" charset="0"/>
              </a:rPr>
              <a:t>Καταρρίπτεται ο μύθος ότι τα κρατικά ταμεία εξαρτώνται από τη βαριά βιομηχανία. Τα φορολογικά έσοδα καταγράφουν ραγδαία άνοδο, ενώ οι ρύποι από παραδοσιακούς τομείς φθίνουν, αποδεικνύοντας ότι η βιωσιμότητα αποτελεί τον νέο μοχλό της ευρωπαϊκής οικονομίας.</a:t>
            </a:r>
          </a:p>
          <a:p>
            <a:endParaRPr lang="el-GR" sz="2000" dirty="0">
              <a:latin typeface="Amasis MT Pro" panose="02040504050005020304" pitchFamily="18" charset="0"/>
            </a:endParaRPr>
          </a:p>
        </p:txBody>
      </p:sp>
    </p:spTree>
    <p:extLst>
      <p:ext uri="{BB962C8B-B14F-4D97-AF65-F5344CB8AC3E}">
        <p14:creationId xmlns:p14="http://schemas.microsoft.com/office/powerpoint/2010/main" val="1756857350"/>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808</Words>
  <Application>Microsoft Office PowerPoint</Application>
  <PresentationFormat>Ευρεία οθόνη</PresentationFormat>
  <Paragraphs>41</Paragraphs>
  <Slides>8</Slides>
  <Notes>1</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8</vt:i4>
      </vt:variant>
    </vt:vector>
  </HeadingPairs>
  <TitlesOfParts>
    <vt:vector size="13" baseType="lpstr">
      <vt:lpstr>Amasis MT Pro</vt:lpstr>
      <vt:lpstr>Aptos</vt:lpstr>
      <vt:lpstr>Aptos Display</vt:lpstr>
      <vt:lpstr>Arial</vt:lpstr>
      <vt:lpstr>Θέμα του Office</vt:lpstr>
      <vt:lpstr>Αλληλεπιδράσεις Οικονομικής Δραστηριότητας, Ενεργειακού Μείγματος και Περιβαλλοντικών Επιπτώσεων στην Ε.Ε. (2018-2024)</vt:lpstr>
      <vt:lpstr>Μεθοδολογία &amp; Σύνολα Δεδομένων</vt:lpstr>
      <vt:lpstr>Ερωτήματα Διερεύνησης</vt:lpstr>
      <vt:lpstr>1)Συσχέτιση Οικονομικής Ανάπτυξης, Εκπομπών Ρύπων και Διείσδυσης ΑΠΕ </vt:lpstr>
      <vt:lpstr>2)Εξέλιξη Καταναλωτικής Δαπάνης έναντι Εκπομπών από Κινητή Καύση</vt:lpstr>
      <vt:lpstr>3)Σύγκριση Καθαρών Αποταμιεύσεων και Διείσδυσης ΑΠΕ ανά Χώρα</vt:lpstr>
      <vt:lpstr>4)Φορολογικά Έσοδα έναντι Ρύπων Διύλισης Πετρελαίου</vt:lpstr>
      <vt:lpstr>Συμπεράσματα: Το "Παράδοξο" της Πράσινης Μετάβασης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Λουλα Κανανι</dc:creator>
  <cp:lastModifiedBy>Λουλα Κανανι</cp:lastModifiedBy>
  <cp:revision>27</cp:revision>
  <dcterms:created xsi:type="dcterms:W3CDTF">2026-07-02T14:53:11Z</dcterms:created>
  <dcterms:modified xsi:type="dcterms:W3CDTF">2026-07-09T10:21:49Z</dcterms:modified>
</cp:coreProperties>
</file>